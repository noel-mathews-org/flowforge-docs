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Inter" panose="020B0604020202020204" charset="0"/>
      <p:regular r:id="rId11"/>
      <p:bold r:id="rId12"/>
      <p:italic r:id="rId13"/>
      <p:boldItalic r:id="rId14"/>
    </p:embeddedFont>
    <p:embeddedFont>
      <p:font typeface="Inter Light" panose="020B0604020202020204" charset="0"/>
      <p:regular r:id="rId15"/>
      <p:bold r:id="rId16"/>
      <p:italic r:id="rId17"/>
      <p:boldItalic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jLxaXNc9e4aQgAd2R9K4zJi+eN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1330672"/>
            <a:ext cx="8572500" cy="419665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2005488" y="2359372"/>
            <a:ext cx="8181022" cy="1472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lang="en-US" sz="43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Multi-Cloud Architecture &amp; </a:t>
            </a:r>
            <a:r>
              <a:rPr lang="en-US" sz="435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IaC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200275" y="3765202"/>
            <a:ext cx="779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Building Secure, Scalable, and Fault-Tolerant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750503" y="4646264"/>
            <a:ext cx="2266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Noel Mathews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05050"/>
            <a:ext cx="2547937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305050"/>
            <a:ext cx="2547937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305050"/>
            <a:ext cx="2547937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72562" y="2305050"/>
            <a:ext cx="2547937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Solution Pillars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16868" y="26003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817840" y="3248025"/>
            <a:ext cx="205525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Security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866775" y="3752850"/>
            <a:ext cx="1957387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Zero-trust posture with private endpoints &amp; firewalls.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50556" y="26003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 txBox="1"/>
          <p:nvPr/>
        </p:nvSpPr>
        <p:spPr>
          <a:xfrm>
            <a:off x="3651527" y="3248025"/>
            <a:ext cx="205525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Availability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3700462" y="3752850"/>
            <a:ext cx="1957387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Multi-zone redundancy for zero-downtime operations.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84243" y="26003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/>
          <p:cNvSpPr txBox="1"/>
          <p:nvPr/>
        </p:nvSpPr>
        <p:spPr>
          <a:xfrm>
            <a:off x="6485215" y="3248025"/>
            <a:ext cx="205525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Fault Tolerance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6534150" y="3752850"/>
            <a:ext cx="195738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Graceful degradation through isolated domains.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117931" y="26003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 txBox="1"/>
          <p:nvPr/>
        </p:nvSpPr>
        <p:spPr>
          <a:xfrm>
            <a:off x="9318902" y="3248025"/>
            <a:ext cx="205525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Scalability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9367837" y="3752850"/>
            <a:ext cx="195738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Dynamic provisioning for elastic enterprise workloads.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8708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"/>
          <p:cNvSpPr txBox="1"/>
          <p:nvPr/>
        </p:nvSpPr>
        <p:spPr>
          <a:xfrm>
            <a:off x="1110343" y="40923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Application Architecture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974272" y="409229"/>
            <a:ext cx="57150" cy="6191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571500" y="4210050"/>
            <a:ext cx="32004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B7FB2B40-2BC9-68EA-02A6-A5BF88FC42AD}"/>
              </a:ext>
            </a:extLst>
          </p:cNvPr>
          <p:cNvSpPr/>
          <p:nvPr/>
        </p:nvSpPr>
        <p:spPr>
          <a:xfrm>
            <a:off x="1820636" y="1190625"/>
            <a:ext cx="8009164" cy="4948582"/>
          </a:xfrm>
          <a:custGeom>
            <a:avLst/>
            <a:gdLst/>
            <a:ahLst/>
            <a:cxnLst/>
            <a:rect l="l" t="t" r="r" b="b"/>
            <a:pathLst>
              <a:path w="10572208" h="6545726">
                <a:moveTo>
                  <a:pt x="0" y="0"/>
                </a:moveTo>
                <a:lnTo>
                  <a:pt x="10572208" y="0"/>
                </a:lnTo>
                <a:lnTo>
                  <a:pt x="10572208" y="6545726"/>
                </a:lnTo>
                <a:lnTo>
                  <a:pt x="0" y="65457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/>
          <p:nvPr/>
        </p:nvSpPr>
        <p:spPr>
          <a:xfrm>
            <a:off x="866775" y="2683222"/>
            <a:ext cx="4362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4" title="Archite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39100"/>
            <a:ext cx="12192000" cy="56881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3;p3">
            <a:extLst>
              <a:ext uri="{FF2B5EF4-FFF2-40B4-BE49-F238E27FC236}">
                <a16:creationId xmlns:a16="http://schemas.microsoft.com/office/drawing/2014/main" id="{553457CF-82C2-B1C4-07DD-29C9DC7A5320}"/>
              </a:ext>
            </a:extLst>
          </p:cNvPr>
          <p:cNvSpPr/>
          <p:nvPr/>
        </p:nvSpPr>
        <p:spPr>
          <a:xfrm>
            <a:off x="628649" y="130751"/>
            <a:ext cx="57150" cy="6191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D3352-ED91-445C-4214-B48188998ECA}"/>
              </a:ext>
            </a:extLst>
          </p:cNvPr>
          <p:cNvSpPr txBox="1"/>
          <p:nvPr/>
        </p:nvSpPr>
        <p:spPr>
          <a:xfrm>
            <a:off x="866775" y="22665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Cloud Architecture</a:t>
            </a:r>
            <a:endParaRPr lang="en-US"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57400"/>
            <a:ext cx="5334000" cy="36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Terraform: Modularity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962025" y="2447925"/>
            <a:ext cx="478059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lang="en-US" sz="1404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Code Modularity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2495550"/>
            <a:ext cx="20002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"/>
          <p:cNvSpPr txBox="1"/>
          <p:nvPr/>
        </p:nvSpPr>
        <p:spPr>
          <a:xfrm>
            <a:off x="1390650" y="2914650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Custom Modules: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Standardized, reusable components for compute/network.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1390650" y="3714750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DRY Logic: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Centralized resource definitions to minimize duplication.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1390650" y="4514850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Provider Isolation: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Separate directories for Azure and AWS resources.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824655-6765-0742-EDC0-2131713142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370" y="579664"/>
            <a:ext cx="4067743" cy="31627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B7CF8D-1A91-0685-1BB9-69384535C2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590" y="4321629"/>
            <a:ext cx="3010320" cy="15527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Dynamic Environments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1000125" y="2676525"/>
            <a:ext cx="490537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Variable Injection: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Use of dev.tfvars and prod.tfvars for environment-specific values.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1000125" y="34861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One Codebase: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Deploy the same HCL code to different tiers without modification.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1000125" y="42862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Scaling Controls: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Vary instance sizes and node counts per environment dynamically.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146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242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2435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655A3B-5AE1-E0AD-5ADD-279BFB75CC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2984" y="247175"/>
            <a:ext cx="3577902" cy="3048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5B3E91-19D3-50E3-2A74-265012DFE7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9755" y="3648075"/>
            <a:ext cx="3724359" cy="28298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95387"/>
            <a:ext cx="2215243" cy="1994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195387"/>
            <a:ext cx="5334000" cy="537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 txBox="1"/>
          <p:nvPr/>
        </p:nvSpPr>
        <p:spPr>
          <a:xfrm>
            <a:off x="762000" y="290512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State Management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71500" y="290512"/>
            <a:ext cx="57150" cy="6191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195387"/>
            <a:ext cx="2585357" cy="223361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7"/>
          <p:cNvSpPr txBox="1"/>
          <p:nvPr/>
        </p:nvSpPr>
        <p:spPr>
          <a:xfrm>
            <a:off x="6677025" y="1585912"/>
            <a:ext cx="478059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Remote Backend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1633537"/>
            <a:ext cx="20002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7"/>
          <p:cNvSpPr txBox="1"/>
          <p:nvPr/>
        </p:nvSpPr>
        <p:spPr>
          <a:xfrm>
            <a:off x="7105650" y="2100262"/>
            <a:ext cx="41243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Azure Blob Storage: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Centralized storage for .tfstate files.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7105650" y="2909887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State Locking: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Lease mechanism prevents concurrent state modification.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7105650" y="3709987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Corruption Prevention: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Avoids race conditions during team deployments.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7105650" y="4510087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Security: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State encrypted at rest with managed identities.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031395-5BE9-77A3-EC1C-8C8F0033BA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5122" y="4174670"/>
            <a:ext cx="6101378" cy="16920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09725"/>
            <a:ext cx="11049000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8"/>
          <p:cNvSpPr txBox="1"/>
          <p:nvPr/>
        </p:nvSpPr>
        <p:spPr>
          <a:xfrm>
            <a:off x="1105376" y="2381250"/>
            <a:ext cx="998124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Thankyou 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</Words>
  <Application>Microsoft Office PowerPoint</Application>
  <PresentationFormat>Widescreen</PresentationFormat>
  <Paragraphs>30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Poppins</vt:lpstr>
      <vt:lpstr>Inter Light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Noel Mathews(UST,IN)</cp:lastModifiedBy>
  <cp:revision>1</cp:revision>
  <dcterms:modified xsi:type="dcterms:W3CDTF">2026-06-10T05:04:34Z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2026-06-10T04:59:28Z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5510b698-078c-4152-8bb4-043bd5b243e6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